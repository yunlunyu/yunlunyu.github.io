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F1F0"/>
    <a:srgbClr val="E6F0EE"/>
    <a:srgbClr val="F6F5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738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610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Yunlun_Yu_CV.html, Yunlun_Yu_Resume_Interview_Record.docx, and photo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Yunlun_Yu_CV.html, Yunlun_Yu_Resume_Interview_Record.docx, and photo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Yunlun_Yu_CV.html, Yunlun_Yu_Resume_Interview_Record.docx, and photo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Yunlun_Yu_CV.html, Yunlun_Yu_Resume_Interview_Record.docx, and photo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Yunlun_Yu_CV.html, Yunlun_Yu_Resume_Interview_Record.docx, and photo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Yunlun_Yu_CV.html, Yunlun_Yu_Resume_Interview_Record.docx, and photo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Yunlun_Yu_CV.html, Yunlun_Yu_Resume_Interview_Record.docx, and photo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Yunlun_Yu_CV.html, Yunlun_Yu_Resume_Interview_Record.docx, and photo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Yunlun_Yu_CV.html, Yunlun_Yu_Resume_Interview_Record.docx, and photo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343400" cy="6858000"/>
          </a:xfrm>
          <a:prstGeom prst="rect">
            <a:avLst/>
          </a:prstGeom>
          <a:solidFill>
            <a:srgbClr val="16222B"/>
          </a:solidFill>
          <a:ln w="12700">
            <a:solidFill>
              <a:srgbClr val="16222B">
                <a:alpha val="0"/>
              </a:srgbClr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576072" y="478123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B7C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YUN-LUN YU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4956048" y="2176272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200" b="1" dirty="0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尤韻綸</a:t>
            </a:r>
            <a:endParaRPr lang="en-US" sz="5200" dirty="0"/>
          </a:p>
        </p:txBody>
      </p:sp>
      <p:sp>
        <p:nvSpPr>
          <p:cNvPr id="7" name="Text 3"/>
          <p:cNvSpPr/>
          <p:nvPr/>
        </p:nvSpPr>
        <p:spPr>
          <a:xfrm>
            <a:off x="5001768" y="325526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3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機械工程｜模擬分析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001768" y="3986784"/>
            <a:ext cx="1389888" cy="0"/>
          </a:xfrm>
          <a:prstGeom prst="line">
            <a:avLst/>
          </a:prstGeom>
          <a:noFill/>
          <a:ln w="27940">
            <a:solidFill>
              <a:srgbClr val="E5B56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01768" y="47731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kern="0" spc="120" dirty="0">
                <a:solidFill>
                  <a:srgbClr val="62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ENGINEERING</a:t>
            </a:r>
            <a:endParaRPr lang="en-US" sz="1200" dirty="0"/>
          </a:p>
        </p:txBody>
      </p:sp>
      <p:pic>
        <p:nvPicPr>
          <p:cNvPr id="10" name="Profile Photo">
            <a:extLst>
              <a:ext uri="{FF2B5EF4-FFF2-40B4-BE49-F238E27FC236}">
                <a16:creationId xmlns:a16="http://schemas.microsoft.com/office/drawing/2014/main" id="{6C578E50-5293-8B68-EB15-3B621510419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739590"/>
            <a:ext cx="3048000" cy="3810000"/>
          </a:xfrm>
          <a:prstGeom prst="rect">
            <a:avLst/>
          </a:prstGeom>
          <a:ln w="10160">
            <a:solidFill>
              <a:srgbClr val="CDD3D5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字方塊 34">
            <a:extLst>
              <a:ext uri="{FF2B5EF4-FFF2-40B4-BE49-F238E27FC236}">
                <a16:creationId xmlns:a16="http://schemas.microsoft.com/office/drawing/2014/main" id="{AC1446F7-5E91-0842-0130-A335A3D3F277}"/>
              </a:ext>
            </a:extLst>
          </p:cNvPr>
          <p:cNvSpPr txBox="1"/>
          <p:nvPr/>
        </p:nvSpPr>
        <p:spPr>
          <a:xfrm>
            <a:off x="444500" y="3175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000" b="1">
                <a:solidFill>
                  <a:srgbClr val="236B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01</a:t>
            </a:r>
            <a:endParaRPr lang="zh-TW" altLang="en-US" sz="1000" b="1">
              <a:solidFill>
                <a:srgbClr val="236B78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33A82791-B28E-C45B-73BC-536F5FA9CAF5}"/>
              </a:ext>
            </a:extLst>
          </p:cNvPr>
          <p:cNvSpPr txBox="1"/>
          <p:nvPr/>
        </p:nvSpPr>
        <p:spPr>
          <a:xfrm>
            <a:off x="444500" y="660400"/>
            <a:ext cx="3302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2700" b="1">
                <a:solidFill>
                  <a:srgbClr val="1622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學歷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49A9E48D-D7E9-5E19-BC30-AD564D07E4FB}"/>
              </a:ext>
            </a:extLst>
          </p:cNvPr>
          <p:cNvSpPr txBox="1"/>
          <p:nvPr/>
        </p:nvSpPr>
        <p:spPr>
          <a:xfrm>
            <a:off x="444500" y="1219200"/>
            <a:ext cx="546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ja-JP" altLang="en-US" sz="1100">
                <a:solidFill>
                  <a:srgbClr val="6272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機械工程｜固力與設計・齒輪模擬分析</a:t>
            </a:r>
            <a:endParaRPr lang="zh-TW" altLang="en-US" sz="1100">
              <a:solidFill>
                <a:srgbClr val="62727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9A8F6B49-C2AD-59D9-5369-9D0CC9D1191B}"/>
              </a:ext>
            </a:extLst>
          </p:cNvPr>
          <p:cNvCxnSpPr/>
          <p:nvPr/>
        </p:nvCxnSpPr>
        <p:spPr>
          <a:xfrm>
            <a:off x="444500" y="1536700"/>
            <a:ext cx="11303000" cy="0"/>
          </a:xfrm>
          <a:prstGeom prst="line">
            <a:avLst/>
          </a:prstGeom>
          <a:ln w="8890">
            <a:solidFill>
              <a:srgbClr val="D7D9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284E0A38-601E-20AF-068A-06781849AE37}"/>
              </a:ext>
            </a:extLst>
          </p:cNvPr>
          <p:cNvSpPr/>
          <p:nvPr/>
        </p:nvSpPr>
        <p:spPr>
          <a:xfrm>
            <a:off x="533400" y="1854200"/>
            <a:ext cx="5207000" cy="3378200"/>
          </a:xfrm>
          <a:prstGeom prst="rect">
            <a:avLst/>
          </a:prstGeom>
          <a:solidFill>
            <a:srgbClr val="E9EB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C14348F-542A-442C-9099-BA65078C6F15}"/>
              </a:ext>
            </a:extLst>
          </p:cNvPr>
          <p:cNvSpPr/>
          <p:nvPr/>
        </p:nvSpPr>
        <p:spPr>
          <a:xfrm>
            <a:off x="533400" y="1854200"/>
            <a:ext cx="76200" cy="3378200"/>
          </a:xfrm>
          <a:prstGeom prst="rect">
            <a:avLst/>
          </a:prstGeom>
          <a:solidFill>
            <a:srgbClr val="236B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BF57F3F5-99E6-D475-3D2F-ED788253E08C}"/>
              </a:ext>
            </a:extLst>
          </p:cNvPr>
          <p:cNvSpPr txBox="1"/>
          <p:nvPr/>
        </p:nvSpPr>
        <p:spPr>
          <a:xfrm>
            <a:off x="863600" y="2133600"/>
            <a:ext cx="4445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900" b="1">
                <a:solidFill>
                  <a:srgbClr val="1622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碩士｜國立中央大學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38DFF3F8-9C80-27E4-9B89-CA83A3D23990}"/>
              </a:ext>
            </a:extLst>
          </p:cNvPr>
          <p:cNvSpPr txBox="1"/>
          <p:nvPr/>
        </p:nvSpPr>
        <p:spPr>
          <a:xfrm>
            <a:off x="863600" y="2565400"/>
            <a:ext cx="4445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050" dirty="0">
                <a:solidFill>
                  <a:srgbClr val="6272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機械工程學系｜固力與設計組｜齒輪模擬分析實驗室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10A3C42-2BF1-E661-4F0A-89BA762CFA12}"/>
              </a:ext>
            </a:extLst>
          </p:cNvPr>
          <p:cNvSpPr txBox="1"/>
          <p:nvPr/>
        </p:nvSpPr>
        <p:spPr>
          <a:xfrm>
            <a:off x="863600" y="3009900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100">
                <a:solidFill>
                  <a:srgbClr val="6272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112/09–115/06</a:t>
            </a:r>
            <a:endParaRPr lang="zh-TW" altLang="en-US" sz="1100">
              <a:solidFill>
                <a:srgbClr val="62727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8CC5FB18-1BC7-F34B-782A-5D7728CA8F79}"/>
              </a:ext>
            </a:extLst>
          </p:cNvPr>
          <p:cNvCxnSpPr/>
          <p:nvPr/>
        </p:nvCxnSpPr>
        <p:spPr>
          <a:xfrm>
            <a:off x="863600" y="3378200"/>
            <a:ext cx="3581400" cy="0"/>
          </a:xfrm>
          <a:prstGeom prst="line">
            <a:avLst/>
          </a:prstGeom>
          <a:ln w="7620">
            <a:solidFill>
              <a:srgbClr val="D7D9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01F63972-8708-4936-B1EB-D9BBC8BCD1C3}"/>
              </a:ext>
            </a:extLst>
          </p:cNvPr>
          <p:cNvSpPr txBox="1"/>
          <p:nvPr/>
        </p:nvSpPr>
        <p:spPr>
          <a:xfrm>
            <a:off x="863600" y="3568700"/>
            <a:ext cx="1016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950" b="1">
                <a:solidFill>
                  <a:srgbClr val="236B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核心課程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F2EE9B51-BBE2-1C7E-0D55-BCBFF9D530B5}"/>
              </a:ext>
            </a:extLst>
          </p:cNvPr>
          <p:cNvSpPr txBox="1"/>
          <p:nvPr/>
        </p:nvSpPr>
        <p:spPr>
          <a:xfrm>
            <a:off x="863600" y="3911600"/>
            <a:ext cx="342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300">
                <a:solidFill>
                  <a:srgbClr val="1622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 </a:t>
            </a:r>
            <a:r>
              <a:rPr lang="zh-TW" altLang="en-US" sz="1300">
                <a:solidFill>
                  <a:srgbClr val="1622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機器動力學（</a:t>
            </a:r>
            <a:r>
              <a:rPr lang="en-US" altLang="zh-TW" sz="1300">
                <a:solidFill>
                  <a:srgbClr val="1622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ADAMS</a:t>
            </a:r>
            <a:r>
              <a:rPr lang="zh-TW" altLang="en-US" sz="1300">
                <a:solidFill>
                  <a:srgbClr val="1622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928F36F4-5088-9C86-6C6E-6C32F34B2A52}"/>
              </a:ext>
            </a:extLst>
          </p:cNvPr>
          <p:cNvSpPr txBox="1"/>
          <p:nvPr/>
        </p:nvSpPr>
        <p:spPr>
          <a:xfrm>
            <a:off x="863600" y="4330700"/>
            <a:ext cx="342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300">
                <a:solidFill>
                  <a:srgbClr val="1622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 </a:t>
            </a:r>
            <a:r>
              <a:rPr lang="zh-TW" altLang="en-US" sz="1300">
                <a:solidFill>
                  <a:srgbClr val="1622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振動學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0DB5AA74-8C17-78C0-7AC2-0605DA3CAB1A}"/>
              </a:ext>
            </a:extLst>
          </p:cNvPr>
          <p:cNvSpPr txBox="1"/>
          <p:nvPr/>
        </p:nvSpPr>
        <p:spPr>
          <a:xfrm>
            <a:off x="863600" y="4749800"/>
            <a:ext cx="342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300">
                <a:solidFill>
                  <a:srgbClr val="1622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 </a:t>
            </a:r>
            <a:r>
              <a:rPr lang="zh-TW" altLang="en-US" sz="1300">
                <a:solidFill>
                  <a:srgbClr val="1622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機械材料性質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11EA511-D9FC-CA19-6838-F59080ACC447}"/>
              </a:ext>
            </a:extLst>
          </p:cNvPr>
          <p:cNvSpPr/>
          <p:nvPr/>
        </p:nvSpPr>
        <p:spPr>
          <a:xfrm>
            <a:off x="6096000" y="1854200"/>
            <a:ext cx="5562600" cy="3378200"/>
          </a:xfrm>
          <a:prstGeom prst="rect">
            <a:avLst/>
          </a:prstGeom>
          <a:solidFill>
            <a:srgbClr val="E8F1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68A22D2-24E1-372A-B57F-69C0BEF477AE}"/>
              </a:ext>
            </a:extLst>
          </p:cNvPr>
          <p:cNvSpPr/>
          <p:nvPr/>
        </p:nvSpPr>
        <p:spPr>
          <a:xfrm>
            <a:off x="6096000" y="1854200"/>
            <a:ext cx="76200" cy="3378200"/>
          </a:xfrm>
          <a:prstGeom prst="rect">
            <a:avLst/>
          </a:prstGeom>
          <a:solidFill>
            <a:srgbClr val="E5B56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76190BF2-6DCC-5A38-EFED-A15BA2B23A27}"/>
              </a:ext>
            </a:extLst>
          </p:cNvPr>
          <p:cNvSpPr txBox="1"/>
          <p:nvPr/>
        </p:nvSpPr>
        <p:spPr>
          <a:xfrm>
            <a:off x="6426200" y="2133600"/>
            <a:ext cx="457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900" b="1">
                <a:solidFill>
                  <a:srgbClr val="1622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學士｜國立中央大學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CBE79104-B02F-AE44-A33E-47ED2C99A5B8}"/>
              </a:ext>
            </a:extLst>
          </p:cNvPr>
          <p:cNvSpPr txBox="1"/>
          <p:nvPr/>
        </p:nvSpPr>
        <p:spPr>
          <a:xfrm>
            <a:off x="6426200" y="2565400"/>
            <a:ext cx="419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050">
                <a:solidFill>
                  <a:srgbClr val="6272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機械工程學系｜固力與設計組</a:t>
            </a: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3672019E-70E2-0A8B-4E21-5E0606CECC49}"/>
              </a:ext>
            </a:extLst>
          </p:cNvPr>
          <p:cNvSpPr txBox="1"/>
          <p:nvPr/>
        </p:nvSpPr>
        <p:spPr>
          <a:xfrm>
            <a:off x="6426200" y="2966852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100" dirty="0">
                <a:solidFill>
                  <a:srgbClr val="6272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108/09–112/06</a:t>
            </a:r>
            <a:endParaRPr lang="zh-TW" altLang="en-US" sz="1100" dirty="0">
              <a:solidFill>
                <a:srgbClr val="62727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BC68A9A5-E990-77D1-D557-D01C21D7E653}"/>
              </a:ext>
            </a:extLst>
          </p:cNvPr>
          <p:cNvCxnSpPr>
            <a:cxnSpLocks/>
          </p:cNvCxnSpPr>
          <p:nvPr/>
        </p:nvCxnSpPr>
        <p:spPr>
          <a:xfrm flipH="1" flipV="1">
            <a:off x="6424054" y="3375696"/>
            <a:ext cx="3653664" cy="2504"/>
          </a:xfrm>
          <a:prstGeom prst="line">
            <a:avLst/>
          </a:prstGeom>
          <a:ln w="7620">
            <a:solidFill>
              <a:srgbClr val="D7D9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F4FB1E0F-C10D-967F-5421-348A7BFF8860}"/>
              </a:ext>
            </a:extLst>
          </p:cNvPr>
          <p:cNvSpPr txBox="1"/>
          <p:nvPr/>
        </p:nvSpPr>
        <p:spPr>
          <a:xfrm>
            <a:off x="6426200" y="3568700"/>
            <a:ext cx="1016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950" b="1">
                <a:solidFill>
                  <a:srgbClr val="236B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核心課程</a:t>
            </a: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0F789145-2C97-4575-453D-108B69F7B892}"/>
              </a:ext>
            </a:extLst>
          </p:cNvPr>
          <p:cNvSpPr txBox="1"/>
          <p:nvPr/>
        </p:nvSpPr>
        <p:spPr>
          <a:xfrm>
            <a:off x="6426200" y="3911600"/>
            <a:ext cx="4445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ja-JP" sz="1250">
                <a:solidFill>
                  <a:srgbClr val="1622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 </a:t>
            </a:r>
            <a:r>
              <a:rPr lang="ja-JP" altLang="en-US" sz="1250">
                <a:solidFill>
                  <a:srgbClr val="1622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熱傳學 ・ 熱力學 ・ 流體力學</a:t>
            </a:r>
            <a:endParaRPr lang="zh-TW" altLang="en-US" sz="1250">
              <a:solidFill>
                <a:srgbClr val="16222B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71D18197-2BEB-DEBB-4534-BEFA1CDA1FF9}"/>
              </a:ext>
            </a:extLst>
          </p:cNvPr>
          <p:cNvSpPr txBox="1"/>
          <p:nvPr/>
        </p:nvSpPr>
        <p:spPr>
          <a:xfrm>
            <a:off x="6426200" y="4330700"/>
            <a:ext cx="4445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ja-JP" sz="1250">
                <a:solidFill>
                  <a:srgbClr val="1622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 </a:t>
            </a:r>
            <a:r>
              <a:rPr lang="ja-JP" altLang="en-US" sz="1250">
                <a:solidFill>
                  <a:srgbClr val="1622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動力學 ・ 靜力與材料力學</a:t>
            </a:r>
            <a:endParaRPr lang="zh-TW" altLang="en-US" sz="1250">
              <a:solidFill>
                <a:srgbClr val="16222B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D231374A-5E5C-74DE-2223-E612E0C1264E}"/>
              </a:ext>
            </a:extLst>
          </p:cNvPr>
          <p:cNvSpPr txBox="1"/>
          <p:nvPr/>
        </p:nvSpPr>
        <p:spPr>
          <a:xfrm>
            <a:off x="6426200" y="4749800"/>
            <a:ext cx="4445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ja-JP" sz="1250">
                <a:solidFill>
                  <a:srgbClr val="1622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 </a:t>
            </a:r>
            <a:r>
              <a:rPr lang="ja-JP" altLang="en-US" sz="1250">
                <a:solidFill>
                  <a:srgbClr val="1622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機構學 ・ 自動控制</a:t>
            </a:r>
            <a:endParaRPr lang="zh-TW" altLang="en-US" sz="1250">
              <a:solidFill>
                <a:srgbClr val="16222B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F2C8AD5-1274-AAE2-699C-FA4AA9AABD5D}"/>
              </a:ext>
            </a:extLst>
          </p:cNvPr>
          <p:cNvSpPr/>
          <p:nvPr/>
        </p:nvSpPr>
        <p:spPr>
          <a:xfrm>
            <a:off x="533400" y="5448300"/>
            <a:ext cx="11125200" cy="939800"/>
          </a:xfrm>
          <a:prstGeom prst="rect">
            <a:avLst/>
          </a:prstGeom>
          <a:solidFill>
            <a:srgbClr val="236B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9C7B7210-C2E5-EE52-63A8-3CEFBB004DA7}"/>
              </a:ext>
            </a:extLst>
          </p:cNvPr>
          <p:cNvSpPr txBox="1"/>
          <p:nvPr/>
        </p:nvSpPr>
        <p:spPr>
          <a:xfrm>
            <a:off x="812800" y="5626100"/>
            <a:ext cx="1333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950" b="1">
                <a:solidFill>
                  <a:srgbClr val="E1EF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英語能力</a:t>
            </a: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9EB5553D-BD16-3487-7A2C-88981EC7A575}"/>
              </a:ext>
            </a:extLst>
          </p:cNvPr>
          <p:cNvSpPr txBox="1"/>
          <p:nvPr/>
        </p:nvSpPr>
        <p:spPr>
          <a:xfrm>
            <a:off x="812800" y="5892800"/>
            <a:ext cx="2222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7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TOEIC 715</a:t>
            </a:r>
            <a:endParaRPr lang="zh-TW" altLang="en-US" sz="1700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DE21F087-62F7-1062-BAD1-EC11F567A3B5}"/>
              </a:ext>
            </a:extLst>
          </p:cNvPr>
          <p:cNvCxnSpPr/>
          <p:nvPr/>
        </p:nvCxnSpPr>
        <p:spPr>
          <a:xfrm>
            <a:off x="4953000" y="5613400"/>
            <a:ext cx="0" cy="609600"/>
          </a:xfrm>
          <a:prstGeom prst="line">
            <a:avLst/>
          </a:prstGeom>
          <a:ln w="12700">
            <a:solidFill>
              <a:srgbClr val="E5B5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3AE6F481-CA88-5C35-7E61-CF49CA1DDF6F}"/>
              </a:ext>
            </a:extLst>
          </p:cNvPr>
          <p:cNvSpPr txBox="1"/>
          <p:nvPr/>
        </p:nvSpPr>
        <p:spPr>
          <a:xfrm>
            <a:off x="5334000" y="5626100"/>
            <a:ext cx="2032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950" b="1">
                <a:solidFill>
                  <a:srgbClr val="E1EF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軟體與程式能力</a:t>
            </a: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2DEF594F-BB22-DB3A-1A30-EFC45EB8CBE9}"/>
              </a:ext>
            </a:extLst>
          </p:cNvPr>
          <p:cNvSpPr txBox="1"/>
          <p:nvPr/>
        </p:nvSpPr>
        <p:spPr>
          <a:xfrm>
            <a:off x="5334000" y="5892800"/>
            <a:ext cx="520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4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MATLAB </a:t>
            </a:r>
            <a:r>
              <a:rPr lang="zh-TW" altLang="en-US" sz="14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・ </a:t>
            </a:r>
            <a:r>
              <a:rPr lang="en-US" altLang="zh-TW" sz="14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 </a:t>
            </a:r>
            <a:r>
              <a:rPr lang="zh-TW" altLang="en-US" sz="14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・ </a:t>
            </a:r>
            <a:r>
              <a:rPr lang="en-US" altLang="zh-TW" sz="14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AutoCAD </a:t>
            </a:r>
            <a:r>
              <a:rPr lang="zh-TW" altLang="en-US" sz="14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・ </a:t>
            </a:r>
            <a:r>
              <a:rPr lang="en-US" altLang="zh-TW" sz="14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SolidWorks</a:t>
            </a:r>
            <a:endParaRPr lang="zh-TW" altLang="en-US" sz="1400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61CCCF78-8620-AF01-C30A-C2C9321A30AA}"/>
              </a:ext>
            </a:extLst>
          </p:cNvPr>
          <p:cNvCxnSpPr/>
          <p:nvPr/>
        </p:nvCxnSpPr>
        <p:spPr>
          <a:xfrm>
            <a:off x="444500" y="6464300"/>
            <a:ext cx="11303000" cy="0"/>
          </a:xfrm>
          <a:prstGeom prst="line">
            <a:avLst/>
          </a:prstGeom>
          <a:ln w="7620">
            <a:solidFill>
              <a:srgbClr val="D7D9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97AB521A-E2B8-DC0E-882B-D23C13EC8644}"/>
              </a:ext>
            </a:extLst>
          </p:cNvPr>
          <p:cNvSpPr txBox="1"/>
          <p:nvPr/>
        </p:nvSpPr>
        <p:spPr>
          <a:xfrm>
            <a:off x="444500" y="6527800"/>
            <a:ext cx="2413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ja-JP" altLang="en-US" sz="750">
                <a:solidFill>
                  <a:srgbClr val="6272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尤韻綸｜機械工程・模擬分析</a:t>
            </a:r>
            <a:endParaRPr lang="zh-TW" altLang="en-US" sz="750">
              <a:solidFill>
                <a:srgbClr val="62727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2AB4490E-92FA-8DA6-E74E-FAF2180B2BB3}"/>
              </a:ext>
            </a:extLst>
          </p:cNvPr>
          <p:cNvSpPr txBox="1"/>
          <p:nvPr/>
        </p:nvSpPr>
        <p:spPr>
          <a:xfrm>
            <a:off x="11582400" y="6527800"/>
            <a:ext cx="177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TW" sz="800">
                <a:solidFill>
                  <a:srgbClr val="6272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endParaRPr lang="zh-TW" altLang="en-US" sz="800">
              <a:solidFill>
                <a:srgbClr val="62727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38912" y="3474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3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38912" y="6583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碩士論文｜錐蝸桿模型：加工刀具設計與嚙合特性優化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457200" y="1225296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272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圓弧齒形錐蝸桿之動力刮削刀具設計及錐蝸桿—面齒輪嚙合特性分析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38912" y="1536192"/>
            <a:ext cx="11292840" cy="0"/>
          </a:xfrm>
          <a:prstGeom prst="line">
            <a:avLst/>
          </a:prstGeom>
          <a:noFill/>
          <a:ln w="10160">
            <a:solidFill>
              <a:srgbClr val="D7D9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89904" y="2606040"/>
            <a:ext cx="0" cy="320040"/>
          </a:xfrm>
          <a:prstGeom prst="line">
            <a:avLst/>
          </a:prstGeom>
          <a:noFill/>
          <a:ln w="17780">
            <a:solidFill>
              <a:srgbClr val="E5B56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040380" y="2926080"/>
            <a:ext cx="6117336" cy="0"/>
          </a:xfrm>
          <a:prstGeom prst="line">
            <a:avLst/>
          </a:prstGeom>
          <a:noFill/>
          <a:ln w="17780">
            <a:solidFill>
              <a:srgbClr val="E5B56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40380" y="2926080"/>
            <a:ext cx="0" cy="210312"/>
          </a:xfrm>
          <a:prstGeom prst="line">
            <a:avLst/>
          </a:prstGeom>
          <a:noFill/>
          <a:ln w="17780">
            <a:solidFill>
              <a:srgbClr val="E5B56D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9157716" y="2926080"/>
            <a:ext cx="0" cy="210312"/>
          </a:xfrm>
          <a:prstGeom prst="line">
            <a:avLst/>
          </a:prstGeom>
          <a:noFill/>
          <a:ln w="17780">
            <a:solidFill>
              <a:srgbClr val="E5B56D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087368" y="1892808"/>
            <a:ext cx="4005072" cy="713232"/>
          </a:xfrm>
          <a:prstGeom prst="rect">
            <a:avLst/>
          </a:prstGeom>
          <a:solidFill>
            <a:srgbClr val="16222B"/>
          </a:solidFill>
          <a:ln w="12700">
            <a:solidFill>
              <a:srgbClr val="16222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15968" y="21655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錐蝸桿幾何模型</a:t>
            </a:r>
            <a:endParaRPr lang="en-US" sz="2300" dirty="0"/>
          </a:p>
        </p:txBody>
      </p:sp>
      <p:sp>
        <p:nvSpPr>
          <p:cNvPr id="13" name="Shape 10"/>
          <p:cNvSpPr/>
          <p:nvPr/>
        </p:nvSpPr>
        <p:spPr>
          <a:xfrm>
            <a:off x="9286805" y="1625212"/>
            <a:ext cx="2235172" cy="1389887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pic>
        <p:nvPicPr>
          <p:cNvPr id="14" name="Image 0" descr="C:/Users/Admin/Desktop/Interview_PPT/Photo/MasterThesis/錐蝸桿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5572" y="1703885"/>
            <a:ext cx="2137637" cy="1232541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85216" y="3136392"/>
            <a:ext cx="4910328" cy="196596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6" name="Shape 12"/>
          <p:cNvSpPr/>
          <p:nvPr/>
        </p:nvSpPr>
        <p:spPr>
          <a:xfrm>
            <a:off x="6702552" y="3136392"/>
            <a:ext cx="4910328" cy="1965960"/>
          </a:xfrm>
          <a:prstGeom prst="rect">
            <a:avLst/>
          </a:prstGeom>
          <a:solidFill>
            <a:srgbClr val="E8F1F0"/>
          </a:solidFill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7" name="Text 13"/>
          <p:cNvSpPr/>
          <p:nvPr/>
        </p:nvSpPr>
        <p:spPr>
          <a:xfrm>
            <a:off x="877824" y="3429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3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動力刮削刀具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877824" y="384048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反推刀具齒面  →  NURBS 擬合  →  創成錐蝸桿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877824" y="4297680"/>
            <a:ext cx="4224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272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提升錐蝸桿製造可行性與量產效率，支援國產機器人精密減速機開發。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004304" y="3429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3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面齒輪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7004304" y="384048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組裝誤差分析  →  接觸軌跡判讀  →  齒形修整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7004304" y="4270248"/>
            <a:ext cx="42245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272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透過 TCA 與齒形修整優化齒面接觸與傳動誤差、提升組裝容錯；降低機器人關節的振動與噪訊，強化傳動平穩性與高負載能力。</a:t>
            </a:r>
            <a:endParaRPr lang="en-US" sz="1230" dirty="0"/>
          </a:p>
        </p:txBody>
      </p:sp>
      <p:sp>
        <p:nvSpPr>
          <p:cNvPr id="23" name="Shape 19"/>
          <p:cNvSpPr/>
          <p:nvPr/>
        </p:nvSpPr>
        <p:spPr>
          <a:xfrm>
            <a:off x="585216" y="5532120"/>
            <a:ext cx="11018520" cy="457200"/>
          </a:xfrm>
          <a:prstGeom prst="rect">
            <a:avLst/>
          </a:prstGeom>
          <a:solidFill>
            <a:srgbClr val="236B78"/>
          </a:solidFill>
          <a:ln w="12700">
            <a:solidFill>
              <a:srgbClr val="236B78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59536" y="569617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獲學校推薦參加第二十三屆上銀機械碩士論文獎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438912" y="6473952"/>
            <a:ext cx="11292840" cy="0"/>
          </a:xfrm>
          <a:prstGeom prst="line">
            <a:avLst/>
          </a:prstGeom>
          <a:noFill/>
          <a:ln w="7620">
            <a:solidFill>
              <a:srgbClr val="D7D9D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38912" y="651967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272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尤韻綸｜機械工程・模擬分析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11384280" y="651052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2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8"/>
          <p:cNvSpPr/>
          <p:nvPr/>
        </p:nvSpPr>
        <p:spPr>
          <a:xfrm>
            <a:off x="6583680" y="1945894"/>
            <a:ext cx="4297680" cy="3127248"/>
          </a:xfrm>
          <a:prstGeom prst="rect">
            <a:avLst/>
          </a:prstGeom>
          <a:solidFill>
            <a:srgbClr val="E6F0EE"/>
          </a:solidFill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6" name="Shape 3"/>
          <p:cNvSpPr/>
          <p:nvPr/>
        </p:nvSpPr>
        <p:spPr>
          <a:xfrm>
            <a:off x="438912" y="1536192"/>
            <a:ext cx="11292840" cy="0"/>
          </a:xfrm>
          <a:prstGeom prst="line">
            <a:avLst/>
          </a:prstGeom>
          <a:noFill/>
          <a:ln w="10160">
            <a:solidFill>
              <a:srgbClr val="D7D9D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547872" y="2613406"/>
            <a:ext cx="2404872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4">
                <a:alpha val="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860536" y="2585974"/>
            <a:ext cx="175564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2"/>
          <p:cNvSpPr/>
          <p:nvPr/>
        </p:nvSpPr>
        <p:spPr>
          <a:xfrm>
            <a:off x="438912" y="651967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272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尤韻綸｜機械工程・模擬分析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92608" y="1945894"/>
            <a:ext cx="2578608" cy="312724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3" name="Shape 10"/>
          <p:cNvSpPr/>
          <p:nvPr/>
        </p:nvSpPr>
        <p:spPr>
          <a:xfrm>
            <a:off x="521208" y="2613406"/>
            <a:ext cx="2103120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OuterGrayFrame_4_2">
            <a:extLst>
              <a:ext uri="{FF2B5EF4-FFF2-40B4-BE49-F238E27FC236}">
                <a16:creationId xmlns:a16="http://schemas.microsoft.com/office/drawing/2014/main" id="{F8503999-F5A3-AC8A-D175-32646B65906E}"/>
              </a:ext>
            </a:extLst>
          </p:cNvPr>
          <p:cNvSpPr/>
          <p:nvPr/>
        </p:nvSpPr>
        <p:spPr>
          <a:xfrm>
            <a:off x="3479800" y="2374900"/>
            <a:ext cx="2565400" cy="2654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DD3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Shape 7"/>
          <p:cNvSpPr/>
          <p:nvPr/>
        </p:nvSpPr>
        <p:spPr>
          <a:xfrm>
            <a:off x="3300984" y="1945894"/>
            <a:ext cx="2880360" cy="312724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1" name="Shape 16"/>
          <p:cNvSpPr/>
          <p:nvPr/>
        </p:nvSpPr>
        <p:spPr>
          <a:xfrm>
            <a:off x="6848856" y="2585974"/>
            <a:ext cx="175564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0"/>
          <p:cNvSpPr/>
          <p:nvPr/>
        </p:nvSpPr>
        <p:spPr>
          <a:xfrm>
            <a:off x="438912" y="3474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36B78"/>
                </a:solidFill>
                <a:latin typeface="Arial" panose="020B0604020202020204" pitchFamily="34" charset="0"/>
                <a:ea typeface="Microsoft JhengHei" pitchFamily="34" charset="-122"/>
                <a:cs typeface="Arial" panose="020B0604020202020204" pitchFamily="34" charset="0"/>
              </a:rPr>
              <a:t>02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6839712" y="218363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3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03｜左右齒面誤差結果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547872" y="4689094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272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刮削刀具設計圖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57200" y="1225296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272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由錐蝸桿模型反推刀具齒面，透過 NURBS 擬合驗證創成幾何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21208" y="5530342"/>
            <a:ext cx="10094976" cy="457200"/>
          </a:xfrm>
          <a:prstGeom prst="rect">
            <a:avLst/>
          </a:prstGeom>
          <a:solidFill>
            <a:srgbClr val="E6F0EE"/>
          </a:solidFill>
          <a:ln w="12700">
            <a:solidFill>
              <a:srgbClr val="E6F0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OuterGrayFrame_4_3">
            <a:extLst>
              <a:ext uri="{FF2B5EF4-FFF2-40B4-BE49-F238E27FC236}">
                <a16:creationId xmlns:a16="http://schemas.microsoft.com/office/drawing/2014/main" id="{2F06A9B8-72BE-9BAD-52F5-23EEB43F49BA}"/>
              </a:ext>
            </a:extLst>
          </p:cNvPr>
          <p:cNvSpPr/>
          <p:nvPr/>
        </p:nvSpPr>
        <p:spPr>
          <a:xfrm>
            <a:off x="6756400" y="2456827"/>
            <a:ext cx="3962400" cy="2540000"/>
          </a:xfrm>
          <a:prstGeom prst="rect">
            <a:avLst/>
          </a:prstGeom>
          <a:solidFill>
            <a:srgbClr val="FFFFFF"/>
          </a:solidFill>
          <a:ln w="1143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Text 12"/>
          <p:cNvSpPr/>
          <p:nvPr/>
        </p:nvSpPr>
        <p:spPr>
          <a:xfrm>
            <a:off x="3547872" y="218363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3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02｜刀具設計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21208" y="218363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3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01｜創成關係</a:t>
            </a:r>
            <a:endParaRPr lang="en-US" sz="1400" dirty="0"/>
          </a:p>
        </p:txBody>
      </p:sp>
      <p:pic>
        <p:nvPicPr>
          <p:cNvPr id="24" name="Image 3" descr="C:/Users/Admin/Desktop/Interview_PPT/photo/MasterThesis/右齒面之理論齒形和創成齒形誤差曲線圖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15400" y="2595765"/>
            <a:ext cx="1645920" cy="171907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5" name="Text 18"/>
          <p:cNvSpPr/>
          <p:nvPr/>
        </p:nvSpPr>
        <p:spPr>
          <a:xfrm>
            <a:off x="6848856" y="4644021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272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左右齒面的理論齒形與創成齒形誤差曲線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438912" y="6473952"/>
            <a:ext cx="11292840" cy="0"/>
          </a:xfrm>
          <a:prstGeom prst="line">
            <a:avLst/>
          </a:prstGeom>
          <a:noFill/>
          <a:ln w="7620">
            <a:solidFill>
              <a:srgbClr val="D7D9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2" name="Image 2" descr="C:/Users/Admin/Desktop/Interview_PPT/photo/MasterThesis/左齒面之理論齒形和創成齒形誤差曲線圖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03720" y="2595765"/>
            <a:ext cx="1645920" cy="171907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5" name="Text 11"/>
          <p:cNvSpPr/>
          <p:nvPr/>
        </p:nvSpPr>
        <p:spPr>
          <a:xfrm>
            <a:off x="521208" y="464337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272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動力刮削刀具創成示意圖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272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（藉由錐蝸桿反推）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38912" y="6583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碩士論文｜動力刮削刀具設計</a:t>
            </a:r>
            <a:endParaRPr lang="en-US" sz="3100" dirty="0"/>
          </a:p>
        </p:txBody>
      </p:sp>
      <p:pic>
        <p:nvPicPr>
          <p:cNvPr id="18" name="Image 1" descr="C:/Users/Admin/Desktop/Interview_PPT/photo/MasterThesis/刮削刀具設計圖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02870" y="2538906"/>
            <a:ext cx="2294875" cy="194121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7" name="Shape 4"/>
          <p:cNvSpPr/>
          <p:nvPr/>
        </p:nvSpPr>
        <p:spPr>
          <a:xfrm>
            <a:off x="2880360" y="3491230"/>
            <a:ext cx="411480" cy="0"/>
          </a:xfrm>
          <a:prstGeom prst="line">
            <a:avLst/>
          </a:prstGeom>
          <a:noFill/>
          <a:ln w="19050">
            <a:solidFill>
              <a:srgbClr val="E5B56D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3"/>
          <p:cNvSpPr/>
          <p:nvPr/>
        </p:nvSpPr>
        <p:spPr>
          <a:xfrm>
            <a:off x="11384280" y="651052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2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190488" y="3491230"/>
            <a:ext cx="393192" cy="0"/>
          </a:xfrm>
          <a:prstGeom prst="line">
            <a:avLst/>
          </a:prstGeom>
          <a:noFill/>
          <a:ln w="19050">
            <a:solidFill>
              <a:srgbClr val="E5B56D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0"/>
          <p:cNvSpPr/>
          <p:nvPr/>
        </p:nvSpPr>
        <p:spPr>
          <a:xfrm>
            <a:off x="713232" y="5707846"/>
            <a:ext cx="9710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3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驗證結果｜左右齒面的理論與創成齒形誤差皆極小，可忽略不計，證明動力刮削刀具齒面推導流程正確。</a:t>
            </a:r>
            <a:endParaRPr lang="en-US" sz="1450" dirty="0"/>
          </a:p>
        </p:txBody>
      </p:sp>
      <p:pic>
        <p:nvPicPr>
          <p:cNvPr id="14" name="Image 0" descr="C:/Users/Admin/Desktop/Interview_PPT/photo/MasterThesis/動力刮削刀具創成示意圖(藉由錐蝸桿)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29419" y="2576831"/>
            <a:ext cx="2286697" cy="173986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8"/>
          <p:cNvSpPr/>
          <p:nvPr/>
        </p:nvSpPr>
        <p:spPr>
          <a:xfrm>
            <a:off x="3200400" y="1883664"/>
            <a:ext cx="2432304" cy="303580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438912" y="1536192"/>
            <a:ext cx="11292840" cy="0"/>
          </a:xfrm>
          <a:prstGeom prst="line">
            <a:avLst/>
          </a:prstGeom>
          <a:noFill/>
          <a:ln w="10160">
            <a:solidFill>
              <a:srgbClr val="D7D9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833104" y="1883664"/>
            <a:ext cx="2432304" cy="3035808"/>
          </a:xfrm>
          <a:prstGeom prst="rect">
            <a:avLst/>
          </a:prstGeom>
          <a:solidFill>
            <a:srgbClr val="236B78"/>
          </a:solidFill>
          <a:ln w="12700">
            <a:solidFill>
              <a:srgbClr val="236B78">
                <a:alpha val="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355848" y="4553712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FF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紅色：修整後齒形　</a:t>
            </a:r>
            <a:r>
              <a:rPr lang="en-US" sz="880" dirty="0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黑色：原始齒形</a:t>
            </a:r>
            <a:endParaRPr lang="en-US" sz="880" dirty="0"/>
          </a:p>
        </p:txBody>
      </p:sp>
      <p:sp>
        <p:nvSpPr>
          <p:cNvPr id="28" name="Text 22"/>
          <p:cNvSpPr/>
          <p:nvPr/>
        </p:nvSpPr>
        <p:spPr>
          <a:xfrm>
            <a:off x="9125712" y="28163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成功改善齒面接觸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降低傳動誤差</a:t>
            </a:r>
            <a:endParaRPr lang="en-US" sz="2000" dirty="0"/>
          </a:p>
        </p:txBody>
      </p:sp>
      <p:sp>
        <p:nvSpPr>
          <p:cNvPr id="33" name="Text 27"/>
          <p:cNvSpPr/>
          <p:nvPr/>
        </p:nvSpPr>
        <p:spPr>
          <a:xfrm>
            <a:off x="4617720" y="5541264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8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TCA 結果回調修整量，持續迭代</a:t>
            </a:r>
            <a:endParaRPr lang="en-US" sz="1150" dirty="0"/>
          </a:p>
        </p:txBody>
      </p:sp>
      <p:sp>
        <p:nvSpPr>
          <p:cNvPr id="37" name="Shape 24">
            <a:extLst>
              <a:ext uri="{FF2B5EF4-FFF2-40B4-BE49-F238E27FC236}">
                <a16:creationId xmlns:a16="http://schemas.microsoft.com/office/drawing/2014/main" id="{2E472FED-26D0-B08A-604E-ED409221324F}"/>
              </a:ext>
            </a:extLst>
          </p:cNvPr>
          <p:cNvSpPr/>
          <p:nvPr/>
        </p:nvSpPr>
        <p:spPr>
          <a:xfrm flipH="1" flipV="1">
            <a:off x="4400550" y="5422390"/>
            <a:ext cx="2838704" cy="1"/>
          </a:xfrm>
          <a:prstGeom prst="line">
            <a:avLst/>
          </a:prstGeom>
          <a:noFill/>
          <a:ln w="30480">
            <a:solidFill>
              <a:srgbClr val="C8404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" y="2404872"/>
            <a:ext cx="20299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4"/>
          <p:cNvSpPr/>
          <p:nvPr/>
        </p:nvSpPr>
        <p:spPr>
          <a:xfrm>
            <a:off x="3438144" y="209397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3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02｜齒形修整</a:t>
            </a:r>
            <a:endParaRPr lang="en-US" sz="1400" dirty="0"/>
          </a:p>
        </p:txBody>
      </p:sp>
      <p:sp>
        <p:nvSpPr>
          <p:cNvPr id="41" name="OuterGrayFrame_5_3">
            <a:extLst>
              <a:ext uri="{FF2B5EF4-FFF2-40B4-BE49-F238E27FC236}">
                <a16:creationId xmlns:a16="http://schemas.microsoft.com/office/drawing/2014/main" id="{1DD95CF0-2056-6B01-4DBB-D8ABB6423D11}"/>
              </a:ext>
            </a:extLst>
          </p:cNvPr>
          <p:cNvSpPr/>
          <p:nvPr/>
        </p:nvSpPr>
        <p:spPr>
          <a:xfrm>
            <a:off x="6096000" y="2349500"/>
            <a:ext cx="2260600" cy="2413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DD3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Shape 9"/>
          <p:cNvSpPr/>
          <p:nvPr/>
        </p:nvSpPr>
        <p:spPr>
          <a:xfrm>
            <a:off x="6016752" y="1883664"/>
            <a:ext cx="2432304" cy="303580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2816352" y="3310128"/>
            <a:ext cx="384048" cy="0"/>
          </a:xfrm>
          <a:prstGeom prst="line">
            <a:avLst/>
          </a:prstGeom>
          <a:noFill/>
          <a:ln w="19050">
            <a:solidFill>
              <a:srgbClr val="E5B56D"/>
            </a:solidFill>
            <a:prstDash val="solid"/>
            <a:tailEnd type="triangle"/>
          </a:ln>
        </p:spPr>
      </p:sp>
      <p:sp>
        <p:nvSpPr>
          <p:cNvPr id="23" name="Text 18"/>
          <p:cNvSpPr/>
          <p:nvPr/>
        </p:nvSpPr>
        <p:spPr>
          <a:xfrm>
            <a:off x="6263640" y="209397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3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03｜TCA 分析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438912" y="6473952"/>
            <a:ext cx="11292840" cy="0"/>
          </a:xfrm>
          <a:prstGeom prst="line">
            <a:avLst/>
          </a:prstGeom>
          <a:noFill/>
          <a:ln w="7620">
            <a:solidFill>
              <a:srgbClr val="D7D9D4"/>
            </a:solidFill>
            <a:prstDash val="solid"/>
          </a:ln>
        </p:spPr>
      </p:sp>
      <p:sp>
        <p:nvSpPr>
          <p:cNvPr id="39" name="OuterGrayFrame_5_1">
            <a:extLst>
              <a:ext uri="{FF2B5EF4-FFF2-40B4-BE49-F238E27FC236}">
                <a16:creationId xmlns:a16="http://schemas.microsoft.com/office/drawing/2014/main" id="{469A7DEE-0928-661C-5085-303397C6E49E}"/>
              </a:ext>
            </a:extLst>
          </p:cNvPr>
          <p:cNvSpPr/>
          <p:nvPr/>
        </p:nvSpPr>
        <p:spPr>
          <a:xfrm>
            <a:off x="584200" y="2349500"/>
            <a:ext cx="2146300" cy="2413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DD3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Shape 6"/>
          <p:cNvSpPr/>
          <p:nvPr/>
        </p:nvSpPr>
        <p:spPr>
          <a:xfrm>
            <a:off x="8449056" y="3310128"/>
            <a:ext cx="384048" cy="0"/>
          </a:xfrm>
          <a:prstGeom prst="line">
            <a:avLst/>
          </a:prstGeom>
          <a:noFill/>
          <a:ln w="19050">
            <a:solidFill>
              <a:srgbClr val="E5B56D"/>
            </a:solidFill>
            <a:prstDash val="solid"/>
            <a:tailEnd type="triangle"/>
          </a:ln>
        </p:spPr>
      </p:sp>
      <p:sp>
        <p:nvSpPr>
          <p:cNvPr id="36" name="Text 30"/>
          <p:cNvSpPr/>
          <p:nvPr/>
        </p:nvSpPr>
        <p:spPr>
          <a:xfrm>
            <a:off x="11384280" y="651052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2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1225296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272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透過齒面修整與 TCA 迭代優化，提升機器人關節傳動的平穩性與容錯能力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172200" y="2423160"/>
            <a:ext cx="212140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4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1883664"/>
            <a:ext cx="2313432" cy="303580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9" name="Shape 15"/>
          <p:cNvSpPr/>
          <p:nvPr/>
        </p:nvSpPr>
        <p:spPr>
          <a:xfrm>
            <a:off x="3712464" y="2350008"/>
            <a:ext cx="138988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5632704" y="3310128"/>
            <a:ext cx="384048" cy="0"/>
          </a:xfrm>
          <a:prstGeom prst="line">
            <a:avLst/>
          </a:prstGeom>
          <a:noFill/>
          <a:ln w="19050">
            <a:solidFill>
              <a:srgbClr val="E5B56D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0"/>
          <p:cNvSpPr/>
          <p:nvPr/>
        </p:nvSpPr>
        <p:spPr>
          <a:xfrm>
            <a:off x="6172200" y="4325112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272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檢視 TE 與齒印；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272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依結果回調修整量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438912" y="651967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272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尤韻綸｜機械工程・模擬分析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3355848" y="4297680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272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以齒面拓撲分析檢視修整量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713232" y="209397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3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01｜推導共軛齒輪</a:t>
            </a:r>
            <a:endParaRPr lang="en-US" sz="1400" dirty="0"/>
          </a:p>
        </p:txBody>
      </p:sp>
      <p:pic>
        <p:nvPicPr>
          <p:cNvPr id="25" name="Image 2" descr="C:/Users/Admin/Desktop/Interview_PPT/photo/MasterThesis/齒面接觸分析結果(較佳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27064" y="2478024"/>
            <a:ext cx="2011680" cy="1490472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pic>
        <p:nvPicPr>
          <p:cNvPr id="20" name="Image 1" descr="C:/Users/Admin/Desktop/Interview_PPT/photo/MasterThesis/齒面拓撲分析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67328" y="2404872"/>
            <a:ext cx="1280160" cy="1673352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sp>
        <p:nvSpPr>
          <p:cNvPr id="4" name="Text 1"/>
          <p:cNvSpPr/>
          <p:nvPr/>
        </p:nvSpPr>
        <p:spPr>
          <a:xfrm>
            <a:off x="438912" y="6583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碩士論文｜面齒輪嚙合特性分析</a:t>
            </a:r>
            <a:endParaRPr lang="en-US" sz="3100" dirty="0"/>
          </a:p>
        </p:txBody>
      </p:sp>
      <p:sp>
        <p:nvSpPr>
          <p:cNvPr id="30" name="Shape 24"/>
          <p:cNvSpPr/>
          <p:nvPr/>
        </p:nvSpPr>
        <p:spPr>
          <a:xfrm>
            <a:off x="7232904" y="4916296"/>
            <a:ext cx="0" cy="525653"/>
          </a:xfrm>
          <a:prstGeom prst="line">
            <a:avLst/>
          </a:prstGeom>
          <a:noFill/>
          <a:ln w="30480">
            <a:solidFill>
              <a:srgbClr val="C8404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0"/>
          <p:cNvSpPr/>
          <p:nvPr/>
        </p:nvSpPr>
        <p:spPr>
          <a:xfrm>
            <a:off x="438912" y="3474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3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9125712" y="209397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5B5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04｜優化完成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13232" y="435254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272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面齒輪創成示意圖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272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（藉由錐蝸桿）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9125712" y="372160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D9E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提升組裝容錯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9E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強化機器人關節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9E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傳動平穩與高負載能力</a:t>
            </a:r>
            <a:endParaRPr lang="en-US" sz="1150" dirty="0"/>
          </a:p>
        </p:txBody>
      </p:sp>
      <p:pic>
        <p:nvPicPr>
          <p:cNvPr id="16" name="Image 0" descr="C:/Users/Admin/Desktop/Interview_PPT/photo/MasterThesis/面齒輪創成示意圖(藉由錐蝸桿)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94944" y="2459736"/>
            <a:ext cx="1920240" cy="1673352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sp>
        <p:nvSpPr>
          <p:cNvPr id="32" name="Shape 26"/>
          <p:cNvSpPr/>
          <p:nvPr/>
        </p:nvSpPr>
        <p:spPr>
          <a:xfrm>
            <a:off x="4416552" y="4919472"/>
            <a:ext cx="0" cy="502920"/>
          </a:xfrm>
          <a:prstGeom prst="line">
            <a:avLst/>
          </a:prstGeom>
          <a:noFill/>
          <a:ln w="30480">
            <a:solidFill>
              <a:srgbClr val="C84040"/>
            </a:solidFill>
            <a:prstDash val="solid"/>
            <a:headEnd type="triangle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uterGrayFrame_6_2">
            <a:extLst>
              <a:ext uri="{FF2B5EF4-FFF2-40B4-BE49-F238E27FC236}">
                <a16:creationId xmlns:a16="http://schemas.microsoft.com/office/drawing/2014/main" id="{F8876589-60E9-7D2A-0C07-F7D230E133DC}"/>
              </a:ext>
            </a:extLst>
          </p:cNvPr>
          <p:cNvSpPr/>
          <p:nvPr/>
        </p:nvSpPr>
        <p:spPr>
          <a:xfrm>
            <a:off x="6413500" y="1968500"/>
            <a:ext cx="4445000" cy="2667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DD3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6220460" y="1865376"/>
            <a:ext cx="4790440" cy="3026663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6494780" y="208483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23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較佳｜齒印集中於齒面中央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6220460" y="5239512"/>
            <a:ext cx="4790440" cy="713232"/>
          </a:xfrm>
          <a:prstGeom prst="rect">
            <a:avLst/>
          </a:prstGeom>
          <a:solidFill>
            <a:srgbClr val="E8F1F0"/>
          </a:solidFill>
          <a:ln w="12700">
            <a:solidFill>
              <a:srgbClr val="D7D9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5"/>
          <p:cNvSpPr/>
          <p:nvPr/>
        </p:nvSpPr>
        <p:spPr>
          <a:xfrm>
            <a:off x="438912" y="651967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272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尤韻綸｜機械工程・模擬分析</a:t>
            </a:r>
            <a:endParaRPr lang="en-US" sz="750" dirty="0"/>
          </a:p>
        </p:txBody>
      </p:sp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4DC31BC4-629C-E29E-DF20-9378B8D642B1}"/>
              </a:ext>
            </a:extLst>
          </p:cNvPr>
          <p:cNvSpPr/>
          <p:nvPr/>
        </p:nvSpPr>
        <p:spPr>
          <a:xfrm>
            <a:off x="5191252" y="3263900"/>
            <a:ext cx="889508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Shape 8"/>
          <p:cNvSpPr/>
          <p:nvPr/>
        </p:nvSpPr>
        <p:spPr>
          <a:xfrm>
            <a:off x="786384" y="2432304"/>
            <a:ext cx="4084066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4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12064" y="5239512"/>
            <a:ext cx="450443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4">
                <a:alpha val="0"/>
              </a:srgbClr>
            </a:solidFill>
            <a:prstDash val="solid"/>
          </a:ln>
        </p:spPr>
      </p:sp>
      <p:sp>
        <p:nvSpPr>
          <p:cNvPr id="22" name="OuterGrayFrame_6_1">
            <a:extLst>
              <a:ext uri="{FF2B5EF4-FFF2-40B4-BE49-F238E27FC236}">
                <a16:creationId xmlns:a16="http://schemas.microsoft.com/office/drawing/2014/main" id="{21BD3186-381B-6732-061D-A2FAB4DA1079}"/>
              </a:ext>
            </a:extLst>
          </p:cNvPr>
          <p:cNvSpPr/>
          <p:nvPr/>
        </p:nvSpPr>
        <p:spPr>
          <a:xfrm>
            <a:off x="635000" y="1968500"/>
            <a:ext cx="4318000" cy="2667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DD3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512064" y="1865376"/>
            <a:ext cx="4504436" cy="302666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7" name="Text 12"/>
          <p:cNvSpPr/>
          <p:nvPr/>
        </p:nvSpPr>
        <p:spPr>
          <a:xfrm>
            <a:off x="723646" y="5432298"/>
            <a:ext cx="428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TE（傳動誤差）｜</a:t>
            </a:r>
            <a:r>
              <a:rPr lang="en-US" sz="1240" dirty="0" err="1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代表轉動時實際位置與理想位置的落差</a:t>
            </a:r>
            <a:r>
              <a:rPr lang="en-US" sz="1240" dirty="0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</a:t>
            </a:r>
            <a:br>
              <a:rPr lang="en-US" sz="1240" dirty="0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r>
              <a:rPr lang="en-US" sz="1240" dirty="0" err="1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數值與起伏越小，運轉越平順、振動越低</a:t>
            </a:r>
            <a:r>
              <a:rPr lang="en-US" sz="1240" dirty="0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240" dirty="0"/>
          </a:p>
        </p:txBody>
      </p:sp>
      <p:sp>
        <p:nvSpPr>
          <p:cNvPr id="5" name="Text 2"/>
          <p:cNvSpPr/>
          <p:nvPr/>
        </p:nvSpPr>
        <p:spPr>
          <a:xfrm>
            <a:off x="457200" y="1225296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272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以接觸齒印與傳動誤差（TE）判讀嚙合品質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94780" y="2432304"/>
            <a:ext cx="418592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1"/>
          <p:cNvSpPr/>
          <p:nvPr/>
        </p:nvSpPr>
        <p:spPr>
          <a:xfrm>
            <a:off x="438912" y="6583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碩士論文｜面齒輪 TCA 分析結果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786384" y="208483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6272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較差｜齒印偏向齒面邊緣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438912" y="6473952"/>
            <a:ext cx="11292840" cy="0"/>
          </a:xfrm>
          <a:prstGeom prst="line">
            <a:avLst/>
          </a:prstGeom>
          <a:noFill/>
          <a:ln w="7620">
            <a:solidFill>
              <a:srgbClr val="D7D9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2" name="Image 0" descr="C:/Users/Admin/Desktop/Interview_PPT/photo/MasterThesis/齒面接觸分析結果(較差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1398" y="2487168"/>
            <a:ext cx="4029202" cy="201168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8" name="Text 13"/>
          <p:cNvSpPr/>
          <p:nvPr/>
        </p:nvSpPr>
        <p:spPr>
          <a:xfrm>
            <a:off x="6514592" y="541324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40" dirty="0" err="1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齒印判讀｜接觸路徑集中、連續且遠離齒面邊緣為佳</a:t>
            </a:r>
            <a:r>
              <a:rPr lang="en-US" sz="1240" dirty="0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</a:t>
            </a:r>
            <a:br>
              <a:rPr lang="en-US" sz="1240" dirty="0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r>
              <a:rPr lang="en-US" sz="1240" dirty="0" err="1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偏向邊緣或中斷，表示對組裝誤差較敏感</a:t>
            </a:r>
            <a:r>
              <a:rPr lang="en-US" sz="1240" dirty="0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240" dirty="0"/>
          </a:p>
        </p:txBody>
      </p:sp>
      <p:pic>
        <p:nvPicPr>
          <p:cNvPr id="14" name="Image 1" descr="C:/Users/Admin/Desktop/Interview_PPT/photo/MasterThesis/齒面接觸分析結果(較佳)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49644" y="2487168"/>
            <a:ext cx="4131056" cy="201168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3" name="Text 0"/>
          <p:cNvSpPr/>
          <p:nvPr/>
        </p:nvSpPr>
        <p:spPr>
          <a:xfrm>
            <a:off x="438912" y="3474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3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84280" y="651052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2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01A3AD93-9A16-94A4-DB79-5A716DB1FF5F}"/>
              </a:ext>
            </a:extLst>
          </p:cNvPr>
          <p:cNvSpPr/>
          <p:nvPr/>
        </p:nvSpPr>
        <p:spPr>
          <a:xfrm>
            <a:off x="438912" y="1536192"/>
            <a:ext cx="11292840" cy="0"/>
          </a:xfrm>
          <a:prstGeom prst="line">
            <a:avLst/>
          </a:prstGeom>
          <a:noFill/>
          <a:ln w="10160">
            <a:solidFill>
              <a:srgbClr val="D7D9D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38912" y="3474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3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38912" y="6583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工程與研究經驗｜計畫目標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457200" y="1225296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272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雙包絡蝸桿蝸輪手指關節傳動模組關鍵元件開發計畫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38912" y="1536192"/>
            <a:ext cx="11292840" cy="0"/>
          </a:xfrm>
          <a:prstGeom prst="line">
            <a:avLst/>
          </a:prstGeom>
          <a:noFill/>
          <a:ln w="10160">
            <a:solidFill>
              <a:srgbClr val="D7D9D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806440" y="1947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3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最終目標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806440" y="2331720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完成可整合至手指關節的傳動模組</a:t>
            </a:r>
            <a:endParaRPr lang="en-US" sz="2700" dirty="0"/>
          </a:p>
        </p:txBody>
      </p:sp>
      <p:sp>
        <p:nvSpPr>
          <p:cNvPr id="12" name="Shape 8"/>
          <p:cNvSpPr/>
          <p:nvPr/>
        </p:nvSpPr>
        <p:spPr>
          <a:xfrm>
            <a:off x="6766560" y="3813048"/>
            <a:ext cx="384048" cy="0"/>
          </a:xfrm>
          <a:prstGeom prst="line">
            <a:avLst/>
          </a:prstGeom>
          <a:noFill/>
          <a:ln w="17780">
            <a:solidFill>
              <a:srgbClr val="E5B56D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8412480" y="3813048"/>
            <a:ext cx="384048" cy="0"/>
          </a:xfrm>
          <a:prstGeom prst="line">
            <a:avLst/>
          </a:prstGeom>
          <a:noFill/>
          <a:ln w="17780">
            <a:solidFill>
              <a:srgbClr val="E5B56D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10058400" y="3813048"/>
            <a:ext cx="384048" cy="0"/>
          </a:xfrm>
          <a:prstGeom prst="line">
            <a:avLst/>
          </a:prstGeom>
          <a:noFill/>
          <a:ln w="17780">
            <a:solidFill>
              <a:srgbClr val="E5B56D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806440" y="3273552"/>
            <a:ext cx="1353312" cy="1060704"/>
          </a:xfrm>
          <a:prstGeom prst="rect">
            <a:avLst/>
          </a:prstGeom>
          <a:solidFill>
            <a:srgbClr val="236B78"/>
          </a:solidFill>
          <a:ln w="12700">
            <a:solidFill>
              <a:srgbClr val="236B78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43600" y="344728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E5B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943600" y="3803904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齒輪開發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452360" y="3273552"/>
            <a:ext cx="1353312" cy="1060704"/>
          </a:xfrm>
          <a:prstGeom prst="rect">
            <a:avLst/>
          </a:prstGeom>
          <a:solidFill>
            <a:srgbClr val="E9EBE6"/>
          </a:solidFill>
          <a:ln w="12700">
            <a:solidFill>
              <a:srgbClr val="E9EBE6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589520" y="344728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62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7589520" y="3803904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齒輪測試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9098280" y="3273552"/>
            <a:ext cx="1353312" cy="1060704"/>
          </a:xfrm>
          <a:prstGeom prst="rect">
            <a:avLst/>
          </a:prstGeom>
          <a:solidFill>
            <a:srgbClr val="E9EBE6"/>
          </a:solidFill>
          <a:ln w="12700">
            <a:solidFill>
              <a:srgbClr val="E9EBE6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35440" y="344728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62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9235440" y="3803904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馬達整合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10744200" y="3273552"/>
            <a:ext cx="1353312" cy="1060704"/>
          </a:xfrm>
          <a:prstGeom prst="rect">
            <a:avLst/>
          </a:prstGeom>
          <a:solidFill>
            <a:srgbClr val="E9EBE6"/>
          </a:solidFill>
          <a:ln w="12700">
            <a:solidFill>
              <a:srgbClr val="E9EBE6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0881360" y="344728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62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10881360" y="3803904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手指關節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5833872" y="48280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23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目前參與階段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833872" y="51389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齒輪開發：以 MATLAB 建立齒面模型、幾何生成與干涉檢查，支援後續 TCA 分析。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438912" y="6473952"/>
            <a:ext cx="11292840" cy="0"/>
          </a:xfrm>
          <a:prstGeom prst="line">
            <a:avLst/>
          </a:prstGeom>
          <a:noFill/>
          <a:ln w="7620">
            <a:solidFill>
              <a:srgbClr val="D7D9D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38912" y="651967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272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尤韻綸｜機械工程・模擬分析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1384280" y="651052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2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32" name="箭號: 向右 31">
            <a:extLst>
              <a:ext uri="{FF2B5EF4-FFF2-40B4-BE49-F238E27FC236}">
                <a16:creationId xmlns:a16="http://schemas.microsoft.com/office/drawing/2014/main" id="{88D2A6B6-F569-8C8C-1842-78F302E9C108}"/>
              </a:ext>
            </a:extLst>
          </p:cNvPr>
          <p:cNvSpPr/>
          <p:nvPr/>
        </p:nvSpPr>
        <p:spPr>
          <a:xfrm rot="5400000">
            <a:off x="6288337" y="2896164"/>
            <a:ext cx="380372" cy="31914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247F6F8D-296E-274E-47C6-9539F7D64983}"/>
              </a:ext>
            </a:extLst>
          </p:cNvPr>
          <p:cNvSpPr/>
          <p:nvPr/>
        </p:nvSpPr>
        <p:spPr>
          <a:xfrm>
            <a:off x="8940800" y="1155700"/>
            <a:ext cx="2514600" cy="304800"/>
          </a:xfrm>
          <a:prstGeom prst="roundRect">
            <a:avLst/>
          </a:prstGeom>
          <a:solidFill>
            <a:srgbClr val="E8F1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B52C26DA-E6BE-B0B2-F3C7-96303454EC4E}"/>
              </a:ext>
            </a:extLst>
          </p:cNvPr>
          <p:cNvSpPr txBox="1"/>
          <p:nvPr/>
        </p:nvSpPr>
        <p:spPr>
          <a:xfrm>
            <a:off x="9067800" y="1231900"/>
            <a:ext cx="2260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TW" altLang="en-US" sz="1050" b="1">
                <a:solidFill>
                  <a:srgbClr val="236B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與工研院（</a:t>
            </a:r>
            <a:r>
              <a:rPr lang="en-US" altLang="zh-TW" sz="1050" b="1">
                <a:solidFill>
                  <a:srgbClr val="236B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ITRI</a:t>
            </a:r>
            <a:r>
              <a:rPr lang="zh-TW" altLang="en-US" sz="1050" b="1">
                <a:solidFill>
                  <a:srgbClr val="236B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）合作計畫</a:t>
            </a:r>
          </a:p>
        </p:txBody>
      </p:sp>
      <p:sp>
        <p:nvSpPr>
          <p:cNvPr id="2" name="StandardImageFrame_S7_1">
            <a:extLst>
              <a:ext uri="{FF2B5EF4-FFF2-40B4-BE49-F238E27FC236}">
                <a16:creationId xmlns:a16="http://schemas.microsoft.com/office/drawing/2014/main" id="{22C4A051-29F7-1DB3-653B-1A58531A6129}"/>
              </a:ext>
            </a:extLst>
          </p:cNvPr>
          <p:cNvSpPr/>
          <p:nvPr/>
        </p:nvSpPr>
        <p:spPr>
          <a:xfrm>
            <a:off x="566928" y="1800351"/>
            <a:ext cx="4736592" cy="4027338"/>
          </a:xfrm>
          <a:prstGeom prst="rect">
            <a:avLst/>
          </a:prstGeom>
          <a:solidFill>
            <a:srgbClr val="FFFFFF"/>
          </a:solidFill>
          <a:ln w="1016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Image 0" descr="C:/Users/Admin/Desktop/Interview_PPT/photo/ITRI/雙包絡蝸桿蝸輪組組合圖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1968" y="1901952"/>
            <a:ext cx="4144035" cy="3529584"/>
          </a:xfrm>
          <a:prstGeom prst="rect">
            <a:avLst/>
          </a:prstGeom>
        </p:spPr>
      </p:pic>
      <p:sp>
        <p:nvSpPr>
          <p:cNvPr id="33" name="文字方塊 32">
            <a:extLst>
              <a:ext uri="{FF2B5EF4-FFF2-40B4-BE49-F238E27FC236}">
                <a16:creationId xmlns:a16="http://schemas.microsoft.com/office/drawing/2014/main" id="{3FAD0222-AE51-88BA-4264-0655760BDD04}"/>
              </a:ext>
            </a:extLst>
          </p:cNvPr>
          <p:cNvSpPr txBox="1"/>
          <p:nvPr/>
        </p:nvSpPr>
        <p:spPr>
          <a:xfrm>
            <a:off x="-173478" y="5520134"/>
            <a:ext cx="60949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100" dirty="0" err="1">
                <a:solidFill>
                  <a:srgbClr val="6272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雙包絡蝸桿蝸輪齒輪組組合模型</a:t>
            </a:r>
            <a:endParaRPr lang="en-US" altLang="zh-TW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4D1DF511-186A-4211-A25A-EC9B5CADEBCE}"/>
              </a:ext>
            </a:extLst>
          </p:cNvPr>
          <p:cNvCxnSpPr/>
          <p:nvPr/>
        </p:nvCxnSpPr>
        <p:spPr>
          <a:xfrm>
            <a:off x="3873500" y="3467100"/>
            <a:ext cx="508000" cy="0"/>
          </a:xfrm>
          <a:prstGeom prst="line">
            <a:avLst/>
          </a:prstGeom>
          <a:ln w="22860">
            <a:solidFill>
              <a:srgbClr val="E5B56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7856A473-6C6A-7708-0B6F-78FE26014487}"/>
              </a:ext>
            </a:extLst>
          </p:cNvPr>
          <p:cNvCxnSpPr/>
          <p:nvPr/>
        </p:nvCxnSpPr>
        <p:spPr>
          <a:xfrm>
            <a:off x="7810500" y="3467100"/>
            <a:ext cx="508000" cy="0"/>
          </a:xfrm>
          <a:prstGeom prst="line">
            <a:avLst/>
          </a:prstGeom>
          <a:ln w="22860">
            <a:solidFill>
              <a:srgbClr val="E5B56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8ABFC2DA-D451-9448-AC7F-5DF4C3A671D5}"/>
              </a:ext>
            </a:extLst>
          </p:cNvPr>
          <p:cNvSpPr/>
          <p:nvPr/>
        </p:nvSpPr>
        <p:spPr>
          <a:xfrm>
            <a:off x="444500" y="1841500"/>
            <a:ext cx="3429000" cy="3276600"/>
          </a:xfrm>
          <a:prstGeom prst="rect">
            <a:avLst/>
          </a:prstGeom>
          <a:solidFill>
            <a:srgbClr val="FFFFFF"/>
          </a:solidFill>
          <a:ln w="7620" cap="flat" cmpd="sng" algn="ctr">
            <a:solidFill>
              <a:srgbClr val="D7D9D4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92EF15A-BAFD-362F-FF03-8A4A7036AB53}"/>
              </a:ext>
            </a:extLst>
          </p:cNvPr>
          <p:cNvSpPr txBox="1"/>
          <p:nvPr/>
        </p:nvSpPr>
        <p:spPr>
          <a:xfrm>
            <a:off x="673100" y="2044700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100" b="1">
                <a:solidFill>
                  <a:srgbClr val="236B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01</a:t>
            </a:r>
            <a:endParaRPr lang="zh-TW" altLang="en-US" sz="1100" b="1">
              <a:solidFill>
                <a:srgbClr val="236B78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F013654-5109-1F18-8979-0CC63280B30B}"/>
              </a:ext>
            </a:extLst>
          </p:cNvPr>
          <p:cNvSpPr txBox="1"/>
          <p:nvPr/>
        </p:nvSpPr>
        <p:spPr>
          <a:xfrm>
            <a:off x="1130300" y="1993900"/>
            <a:ext cx="2489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500" b="1" dirty="0">
                <a:solidFill>
                  <a:srgbClr val="1622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雙包絡蝸桿蝸輪數學建模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B54BA2-F0B7-1B24-1144-EA62AA480C47}"/>
              </a:ext>
            </a:extLst>
          </p:cNvPr>
          <p:cNvSpPr/>
          <p:nvPr/>
        </p:nvSpPr>
        <p:spPr>
          <a:xfrm>
            <a:off x="622300" y="2451100"/>
            <a:ext cx="3073400" cy="1676400"/>
          </a:xfrm>
          <a:prstGeom prst="rect">
            <a:avLst/>
          </a:prstGeom>
          <a:solidFill>
            <a:srgbClr val="FFFFFF"/>
          </a:solidFill>
          <a:ln w="10160" cap="flat" cmpd="sng" algn="ctr">
            <a:solidFill>
              <a:srgbClr val="CDD3D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FD1B7FB-EF89-6AD7-A79C-30FFB6FAC7A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251280" y="2501900"/>
            <a:ext cx="1815440" cy="15748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A0A8AA"/>
                </a:solidFill>
              </a14:hiddenLine>
            </a:ext>
          </a:extLst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7A799947-B990-D9C6-0BCD-F968AE0EBAAB}"/>
              </a:ext>
            </a:extLst>
          </p:cNvPr>
          <p:cNvSpPr txBox="1"/>
          <p:nvPr/>
        </p:nvSpPr>
        <p:spPr>
          <a:xfrm>
            <a:off x="673100" y="4318000"/>
            <a:ext cx="29718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TW" altLang="en-US" sz="1050">
                <a:solidFill>
                  <a:srgbClr val="6272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建立修整前齒輪組模型，
先定位可能的干涉區域。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8BF0A4-5997-A26E-BA33-DA9AC646DDAE}"/>
              </a:ext>
            </a:extLst>
          </p:cNvPr>
          <p:cNvSpPr/>
          <p:nvPr/>
        </p:nvSpPr>
        <p:spPr>
          <a:xfrm>
            <a:off x="4381500" y="1841500"/>
            <a:ext cx="3429000" cy="3276600"/>
          </a:xfrm>
          <a:prstGeom prst="rect">
            <a:avLst/>
          </a:prstGeom>
          <a:solidFill>
            <a:srgbClr val="E8F1F0"/>
          </a:solidFill>
          <a:ln w="7620" cap="flat" cmpd="sng" algn="ctr">
            <a:solidFill>
              <a:srgbClr val="D7D9D4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8E8AD4F-62B3-3B0E-5761-B5CF33766550}"/>
              </a:ext>
            </a:extLst>
          </p:cNvPr>
          <p:cNvSpPr txBox="1"/>
          <p:nvPr/>
        </p:nvSpPr>
        <p:spPr>
          <a:xfrm>
            <a:off x="4610100" y="2044700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100" b="1">
                <a:solidFill>
                  <a:srgbClr val="236B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02</a:t>
            </a:r>
            <a:endParaRPr lang="zh-TW" altLang="en-US" sz="1100" b="1">
              <a:solidFill>
                <a:srgbClr val="236B78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FAC12DE-14FC-B38C-A9FE-AA4BDC172821}"/>
              </a:ext>
            </a:extLst>
          </p:cNvPr>
          <p:cNvSpPr txBox="1"/>
          <p:nvPr/>
        </p:nvSpPr>
        <p:spPr>
          <a:xfrm>
            <a:off x="5067300" y="1993900"/>
            <a:ext cx="2489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500" b="1">
                <a:solidFill>
                  <a:srgbClr val="1622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干涉區域判讀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73E2EE6-1448-6726-D56C-1039F8EEBB8F}"/>
              </a:ext>
            </a:extLst>
          </p:cNvPr>
          <p:cNvSpPr/>
          <p:nvPr/>
        </p:nvSpPr>
        <p:spPr>
          <a:xfrm>
            <a:off x="4559300" y="2451100"/>
            <a:ext cx="3073400" cy="1676400"/>
          </a:xfrm>
          <a:prstGeom prst="rect">
            <a:avLst/>
          </a:prstGeom>
          <a:solidFill>
            <a:srgbClr val="FFFFFF"/>
          </a:solidFill>
          <a:ln w="10160" cap="flat" cmpd="sng" algn="ctr">
            <a:solidFill>
              <a:srgbClr val="CDD3D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591A565-B4CD-D737-2A75-3DFD5C1F1E01}"/>
              </a:ext>
            </a:extLst>
          </p:cNvPr>
          <p:cNvSpPr txBox="1"/>
          <p:nvPr/>
        </p:nvSpPr>
        <p:spPr>
          <a:xfrm>
            <a:off x="4610100" y="4356099"/>
            <a:ext cx="2971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TW" altLang="en-US" sz="1050" dirty="0">
                <a:solidFill>
                  <a:srgbClr val="236B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以蝸桿齒空替代為新齒面，達成無干涉。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80959E3-E379-A7BB-C210-9248824F13D9}"/>
              </a:ext>
            </a:extLst>
          </p:cNvPr>
          <p:cNvSpPr/>
          <p:nvPr/>
        </p:nvSpPr>
        <p:spPr>
          <a:xfrm>
            <a:off x="8318500" y="1841500"/>
            <a:ext cx="3429000" cy="3276600"/>
          </a:xfrm>
          <a:prstGeom prst="rect">
            <a:avLst/>
          </a:prstGeom>
          <a:solidFill>
            <a:srgbClr val="FFFFFF"/>
          </a:solidFill>
          <a:ln w="7620" cap="flat" cmpd="sng" algn="ctr">
            <a:solidFill>
              <a:srgbClr val="D7D9D4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6646E63-872E-798C-8AFA-0F3C23828594}"/>
              </a:ext>
            </a:extLst>
          </p:cNvPr>
          <p:cNvSpPr txBox="1"/>
          <p:nvPr/>
        </p:nvSpPr>
        <p:spPr>
          <a:xfrm>
            <a:off x="8547100" y="2044700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100" b="1">
                <a:solidFill>
                  <a:srgbClr val="236B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03</a:t>
            </a:r>
            <a:endParaRPr lang="zh-TW" altLang="en-US" sz="1100" b="1">
              <a:solidFill>
                <a:srgbClr val="236B78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E656760-89A9-06BD-7FBC-CC758A905743}"/>
              </a:ext>
            </a:extLst>
          </p:cNvPr>
          <p:cNvSpPr txBox="1"/>
          <p:nvPr/>
        </p:nvSpPr>
        <p:spPr>
          <a:xfrm>
            <a:off x="9004300" y="1993900"/>
            <a:ext cx="2489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500" b="1" dirty="0">
                <a:solidFill>
                  <a:srgbClr val="1622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完成無干涉建模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2D83C0C-C9B5-53A3-3B8B-71E30176CD88}"/>
              </a:ext>
            </a:extLst>
          </p:cNvPr>
          <p:cNvSpPr/>
          <p:nvPr/>
        </p:nvSpPr>
        <p:spPr>
          <a:xfrm>
            <a:off x="8489950" y="2451100"/>
            <a:ext cx="3073400" cy="1676400"/>
          </a:xfrm>
          <a:prstGeom prst="rect">
            <a:avLst/>
          </a:prstGeom>
          <a:solidFill>
            <a:srgbClr val="FFFFFF"/>
          </a:solidFill>
          <a:ln w="10160" cap="flat" cmpd="sng" algn="ctr">
            <a:solidFill>
              <a:srgbClr val="CDD3D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05066C5C-D831-41B1-E29A-EA49CCC39FF8}"/>
              </a:ext>
            </a:extLst>
          </p:cNvPr>
          <p:cNvSpPr txBox="1"/>
          <p:nvPr/>
        </p:nvSpPr>
        <p:spPr>
          <a:xfrm>
            <a:off x="8547100" y="4318000"/>
            <a:ext cx="29718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TW" altLang="en-US" sz="1050">
                <a:solidFill>
                  <a:srgbClr val="6272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依干涉點資料修整齒面幾何，
建立後續 </a:t>
            </a:r>
            <a:r>
              <a:rPr lang="en-US" altLang="zh-TW" sz="1050">
                <a:solidFill>
                  <a:srgbClr val="6272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TCA </a:t>
            </a:r>
            <a:r>
              <a:rPr lang="zh-TW" altLang="en-US" sz="1050">
                <a:solidFill>
                  <a:srgbClr val="6272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分析基礎。</a:t>
            </a:r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30B00D7A-F73A-4499-A41F-9D9F53627FEA}"/>
              </a:ext>
            </a:extLst>
          </p:cNvPr>
          <p:cNvSpPr/>
          <p:nvPr/>
        </p:nvSpPr>
        <p:spPr>
          <a:xfrm rot="1184947">
            <a:off x="1879601" y="3117704"/>
            <a:ext cx="482600" cy="254001"/>
          </a:xfrm>
          <a:prstGeom prst="ellipse">
            <a:avLst/>
          </a:prstGeom>
          <a:noFill/>
          <a:ln w="26670" cap="flat" cmpd="sng" algn="ctr">
            <a:solidFill>
              <a:schemeClr val="tx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BDA9B79B-7B81-F95F-7121-F114E003749A}"/>
              </a:ext>
            </a:extLst>
          </p:cNvPr>
          <p:cNvCxnSpPr>
            <a:cxnSpLocks/>
          </p:cNvCxnSpPr>
          <p:nvPr/>
        </p:nvCxnSpPr>
        <p:spPr>
          <a:xfrm flipH="1" flipV="1">
            <a:off x="1733550" y="2743222"/>
            <a:ext cx="224501" cy="366005"/>
          </a:xfrm>
          <a:prstGeom prst="line">
            <a:avLst/>
          </a:prstGeom>
          <a:ln w="1778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C065AE9C-0449-592C-5B46-0292EBFB1CC6}"/>
              </a:ext>
            </a:extLst>
          </p:cNvPr>
          <p:cNvSpPr txBox="1"/>
          <p:nvPr/>
        </p:nvSpPr>
        <p:spPr>
          <a:xfrm>
            <a:off x="1320800" y="2583069"/>
            <a:ext cx="838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950" b="1" dirty="0">
                <a:solidFill>
                  <a:srgbClr val="C8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干涉區域</a:t>
            </a:r>
          </a:p>
        </p:txBody>
      </p: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D79480FE-3AE5-112A-3B3B-144D73B834E7}"/>
              </a:ext>
            </a:extLst>
          </p:cNvPr>
          <p:cNvCxnSpPr/>
          <p:nvPr/>
        </p:nvCxnSpPr>
        <p:spPr>
          <a:xfrm>
            <a:off x="10033000" y="5118100"/>
            <a:ext cx="0" cy="266700"/>
          </a:xfrm>
          <a:prstGeom prst="line">
            <a:avLst/>
          </a:prstGeom>
          <a:ln w="22860">
            <a:solidFill>
              <a:srgbClr val="E5B56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: 圓角 65">
            <a:extLst>
              <a:ext uri="{FF2B5EF4-FFF2-40B4-BE49-F238E27FC236}">
                <a16:creationId xmlns:a16="http://schemas.microsoft.com/office/drawing/2014/main" id="{E112FBCC-0955-8054-F381-6DB02D211108}"/>
              </a:ext>
            </a:extLst>
          </p:cNvPr>
          <p:cNvSpPr/>
          <p:nvPr/>
        </p:nvSpPr>
        <p:spPr>
          <a:xfrm>
            <a:off x="3238500" y="5397500"/>
            <a:ext cx="5715000" cy="685800"/>
          </a:xfrm>
          <a:prstGeom prst="roundRect">
            <a:avLst/>
          </a:prstGeom>
          <a:solidFill>
            <a:srgbClr val="236B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CFCA68E6-59C0-CE4F-8DD9-D77659A59A72}"/>
              </a:ext>
            </a:extLst>
          </p:cNvPr>
          <p:cNvSpPr txBox="1"/>
          <p:nvPr/>
        </p:nvSpPr>
        <p:spPr>
          <a:xfrm>
            <a:off x="3492500" y="5588000"/>
            <a:ext cx="5207000" cy="406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132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04</a:t>
            </a:r>
            <a:r>
              <a:rPr lang="zh-TW" altLang="en-US" sz="132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｜後續 </a:t>
            </a:r>
            <a:r>
              <a:rPr lang="en-US" altLang="zh-TW" sz="132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TCA </a:t>
            </a:r>
            <a:r>
              <a:rPr lang="zh-TW" altLang="en-US" sz="132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分析：以無干涉模型為基礎，進行齒面接觸與傳動誤差分析</a:t>
            </a:r>
          </a:p>
        </p:txBody>
      </p: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1D1534E0-9CFC-1240-2D52-623AF28AB7B4}"/>
              </a:ext>
            </a:extLst>
          </p:cNvPr>
          <p:cNvCxnSpPr/>
          <p:nvPr/>
        </p:nvCxnSpPr>
        <p:spPr>
          <a:xfrm>
            <a:off x="444500" y="6426200"/>
            <a:ext cx="11303000" cy="0"/>
          </a:xfrm>
          <a:prstGeom prst="line">
            <a:avLst/>
          </a:prstGeom>
          <a:ln w="7620">
            <a:solidFill>
              <a:srgbClr val="D7D9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EBC1E894-E493-7D77-49AD-4E884521D9FA}"/>
              </a:ext>
            </a:extLst>
          </p:cNvPr>
          <p:cNvSpPr txBox="1"/>
          <p:nvPr/>
        </p:nvSpPr>
        <p:spPr>
          <a:xfrm>
            <a:off x="444500" y="6527800"/>
            <a:ext cx="2413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ja-JP" altLang="en-US" sz="750">
                <a:solidFill>
                  <a:srgbClr val="6272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尤韻綸｜機械工程・模擬分析</a:t>
            </a:r>
            <a:endParaRPr lang="zh-TW" altLang="en-US" sz="750">
              <a:solidFill>
                <a:srgbClr val="62727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B7026290-6BC8-9134-4498-766EB1A0D90E}"/>
              </a:ext>
            </a:extLst>
          </p:cNvPr>
          <p:cNvSpPr txBox="1"/>
          <p:nvPr/>
        </p:nvSpPr>
        <p:spPr>
          <a:xfrm>
            <a:off x="11582400" y="6527800"/>
            <a:ext cx="177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TW" sz="800">
                <a:solidFill>
                  <a:srgbClr val="6272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8</a:t>
            </a:r>
            <a:endParaRPr lang="zh-TW" altLang="en-US" sz="800">
              <a:solidFill>
                <a:srgbClr val="62727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5ADBA725-8661-72C4-10CA-8C40651FE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8450" y="2469260"/>
            <a:ext cx="1665843" cy="1651801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A0A8AA"/>
                </a:solidFill>
              </a14:hiddenLine>
            </a:ext>
          </a:extLst>
        </p:spPr>
      </p:pic>
      <p:pic>
        <p:nvPicPr>
          <p:cNvPr id="41" name="圖片 40">
            <a:extLst>
              <a:ext uri="{FF2B5EF4-FFF2-40B4-BE49-F238E27FC236}">
                <a16:creationId xmlns:a16="http://schemas.microsoft.com/office/drawing/2014/main" id="{1B13CA1B-9929-13B2-D7F7-81A4EA9EC3F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427" t="22463" r="46462" b="20984"/>
          <a:stretch>
            <a:fillRect/>
          </a:stretch>
        </p:blipFill>
        <p:spPr>
          <a:xfrm>
            <a:off x="5271392" y="2474493"/>
            <a:ext cx="1651001" cy="1632444"/>
          </a:xfrm>
          <a:prstGeom prst="rect">
            <a:avLst/>
          </a:prstGeom>
        </p:spPr>
      </p:pic>
      <p:sp>
        <p:nvSpPr>
          <p:cNvPr id="42" name="OriginalSurfaceLabel">
            <a:extLst>
              <a:ext uri="{FF2B5EF4-FFF2-40B4-BE49-F238E27FC236}">
                <a16:creationId xmlns:a16="http://schemas.microsoft.com/office/drawing/2014/main" id="{E437E263-654E-B2DD-9F41-7DA6DBC86AC7}"/>
              </a:ext>
            </a:extLst>
          </p:cNvPr>
          <p:cNvSpPr txBox="1"/>
          <p:nvPr/>
        </p:nvSpPr>
        <p:spPr>
          <a:xfrm>
            <a:off x="6597253" y="2746855"/>
            <a:ext cx="1587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85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淺藍：蝸輪原始齒面</a:t>
            </a:r>
          </a:p>
        </p:txBody>
      </p:sp>
      <p:cxnSp>
        <p:nvCxnSpPr>
          <p:cNvPr id="43" name="OriginalSurfaceArrow">
            <a:extLst>
              <a:ext uri="{FF2B5EF4-FFF2-40B4-BE49-F238E27FC236}">
                <a16:creationId xmlns:a16="http://schemas.microsoft.com/office/drawing/2014/main" id="{A34484F5-2D1A-5057-7411-4A265D19EE23}"/>
              </a:ext>
            </a:extLst>
          </p:cNvPr>
          <p:cNvCxnSpPr>
            <a:cxnSpLocks/>
          </p:cNvCxnSpPr>
          <p:nvPr/>
        </p:nvCxnSpPr>
        <p:spPr>
          <a:xfrm flipH="1">
            <a:off x="6496050" y="2901293"/>
            <a:ext cx="202406" cy="103512"/>
          </a:xfrm>
          <a:prstGeom prst="line">
            <a:avLst/>
          </a:prstGeom>
          <a:ln w="15875"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WormSpaceLabel">
            <a:extLst>
              <a:ext uri="{FF2B5EF4-FFF2-40B4-BE49-F238E27FC236}">
                <a16:creationId xmlns:a16="http://schemas.microsoft.com/office/drawing/2014/main" id="{E8815039-1239-7703-A82E-495BDF0454A9}"/>
              </a:ext>
            </a:extLst>
          </p:cNvPr>
          <p:cNvSpPr txBox="1"/>
          <p:nvPr/>
        </p:nvSpPr>
        <p:spPr>
          <a:xfrm>
            <a:off x="6590229" y="3656643"/>
            <a:ext cx="1397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850" b="1" dirty="0">
                <a:solidFill>
                  <a:srgbClr val="7030A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紫色：蝸桿齒空</a:t>
            </a:r>
          </a:p>
        </p:txBody>
      </p:sp>
      <p:cxnSp>
        <p:nvCxnSpPr>
          <p:cNvPr id="46" name="WormSpaceArrow">
            <a:extLst>
              <a:ext uri="{FF2B5EF4-FFF2-40B4-BE49-F238E27FC236}">
                <a16:creationId xmlns:a16="http://schemas.microsoft.com/office/drawing/2014/main" id="{29E6EFDF-3B0D-3A99-CEDD-4F783CECDAD8}"/>
              </a:ext>
            </a:extLst>
          </p:cNvPr>
          <p:cNvCxnSpPr>
            <a:cxnSpLocks/>
          </p:cNvCxnSpPr>
          <p:nvPr/>
        </p:nvCxnSpPr>
        <p:spPr>
          <a:xfrm flipH="1" flipV="1">
            <a:off x="6324600" y="3581400"/>
            <a:ext cx="222250" cy="120649"/>
          </a:xfrm>
          <a:prstGeom prst="line">
            <a:avLst/>
          </a:prstGeom>
          <a:ln w="158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5B4EB62A-8BD3-08C9-0A20-FC4CF979C76A}"/>
              </a:ext>
            </a:extLst>
          </p:cNvPr>
          <p:cNvSpPr txBox="1"/>
          <p:nvPr/>
        </p:nvSpPr>
        <p:spPr>
          <a:xfrm>
            <a:off x="5708650" y="2396887"/>
            <a:ext cx="838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950" b="1" dirty="0">
                <a:solidFill>
                  <a:srgbClr val="C8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干涉區域</a:t>
            </a:r>
          </a:p>
        </p:txBody>
      </p:sp>
      <p:cxnSp>
        <p:nvCxnSpPr>
          <p:cNvPr id="48" name="OriginalSurfaceArrow">
            <a:extLst>
              <a:ext uri="{FF2B5EF4-FFF2-40B4-BE49-F238E27FC236}">
                <a16:creationId xmlns:a16="http://schemas.microsoft.com/office/drawing/2014/main" id="{0EEE57B2-87B5-3D6B-5B9E-D357C546C87F}"/>
              </a:ext>
            </a:extLst>
          </p:cNvPr>
          <p:cNvCxnSpPr>
            <a:cxnSpLocks/>
          </p:cNvCxnSpPr>
          <p:nvPr/>
        </p:nvCxnSpPr>
        <p:spPr>
          <a:xfrm>
            <a:off x="6269435" y="2384588"/>
            <a:ext cx="0" cy="182222"/>
          </a:xfrm>
          <a:prstGeom prst="line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0">
            <a:extLst>
              <a:ext uri="{FF2B5EF4-FFF2-40B4-BE49-F238E27FC236}">
                <a16:creationId xmlns:a16="http://schemas.microsoft.com/office/drawing/2014/main" id="{4D0B75C3-C7EA-958F-BD0A-D46EDC7B9A68}"/>
              </a:ext>
            </a:extLst>
          </p:cNvPr>
          <p:cNvSpPr/>
          <p:nvPr/>
        </p:nvSpPr>
        <p:spPr>
          <a:xfrm>
            <a:off x="438912" y="3474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3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0D96F39B-8A73-B9E8-DBCD-E9E05F9657E4}"/>
              </a:ext>
            </a:extLst>
          </p:cNvPr>
          <p:cNvSpPr/>
          <p:nvPr/>
        </p:nvSpPr>
        <p:spPr>
          <a:xfrm>
            <a:off x="438912" y="6583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工程與研究經驗｜計畫目標</a:t>
            </a:r>
            <a:endParaRPr lang="en-US" sz="3100" dirty="0"/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4A6565A2-CDB7-13FC-485E-262422C15839}"/>
              </a:ext>
            </a:extLst>
          </p:cNvPr>
          <p:cNvSpPr/>
          <p:nvPr/>
        </p:nvSpPr>
        <p:spPr>
          <a:xfrm>
            <a:off x="457200" y="1225296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272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雙包絡蝸桿蝸輪手指關節傳動模組關鍵元件開發計畫</a:t>
            </a:r>
            <a:endParaRPr lang="en-US" sz="1200" dirty="0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56C134D1-B2BF-4D7B-D18E-964AC5EB9925}"/>
              </a:ext>
            </a:extLst>
          </p:cNvPr>
          <p:cNvSpPr/>
          <p:nvPr/>
        </p:nvSpPr>
        <p:spPr>
          <a:xfrm>
            <a:off x="438912" y="1536192"/>
            <a:ext cx="11292840" cy="0"/>
          </a:xfrm>
          <a:prstGeom prst="line">
            <a:avLst/>
          </a:prstGeom>
          <a:noFill/>
          <a:ln w="10160">
            <a:solidFill>
              <a:srgbClr val="D7D9D4"/>
            </a:solidFill>
            <a:prstDash val="solid"/>
          </a:ln>
        </p:spPr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E798F115-EA08-FD30-41F2-325C71807D8E}"/>
              </a:ext>
            </a:extLst>
          </p:cNvPr>
          <p:cNvSpPr/>
          <p:nvPr/>
        </p:nvSpPr>
        <p:spPr>
          <a:xfrm>
            <a:off x="8940800" y="1155700"/>
            <a:ext cx="2514600" cy="304800"/>
          </a:xfrm>
          <a:prstGeom prst="roundRect">
            <a:avLst/>
          </a:prstGeom>
          <a:solidFill>
            <a:srgbClr val="E8F1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339B3B7B-26B4-9A05-15F5-CEBA92DB5B05}"/>
              </a:ext>
            </a:extLst>
          </p:cNvPr>
          <p:cNvSpPr txBox="1"/>
          <p:nvPr/>
        </p:nvSpPr>
        <p:spPr>
          <a:xfrm>
            <a:off x="9067800" y="1231900"/>
            <a:ext cx="2260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TW" altLang="en-US" sz="1050" b="1">
                <a:solidFill>
                  <a:srgbClr val="236B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與工研院（</a:t>
            </a:r>
            <a:r>
              <a:rPr lang="en-US" altLang="zh-TW" sz="1050" b="1">
                <a:solidFill>
                  <a:srgbClr val="236B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ITRI</a:t>
            </a:r>
            <a:r>
              <a:rPr lang="zh-TW" altLang="en-US" sz="1050" b="1">
                <a:solidFill>
                  <a:srgbClr val="236B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）合作計畫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38912" y="3474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3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38912" y="6583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622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相關證照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457200" y="1225296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272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英語能力證明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38912" y="1536192"/>
            <a:ext cx="11292840" cy="0"/>
          </a:xfrm>
          <a:prstGeom prst="line">
            <a:avLst/>
          </a:prstGeom>
          <a:noFill/>
          <a:ln w="10160">
            <a:solidFill>
              <a:srgbClr val="D7D9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" y="1865376"/>
            <a:ext cx="5010912" cy="3602736"/>
          </a:xfrm>
          <a:prstGeom prst="rect">
            <a:avLst/>
          </a:prstGeom>
          <a:solidFill>
            <a:srgbClr val="16222B"/>
          </a:solidFill>
          <a:ln w="12700">
            <a:solidFill>
              <a:srgbClr val="16222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1832" y="23500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3500" b="1" kern="0" spc="100" dirty="0">
                <a:solidFill>
                  <a:srgbClr val="E5B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TOEIC</a:t>
            </a:r>
            <a:endParaRPr lang="en-US" sz="3500" dirty="0"/>
          </a:p>
        </p:txBody>
      </p:sp>
      <p:sp>
        <p:nvSpPr>
          <p:cNvPr id="9" name="Text 6"/>
          <p:cNvSpPr/>
          <p:nvPr/>
        </p:nvSpPr>
        <p:spPr>
          <a:xfrm>
            <a:off x="969264" y="28986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kern="0" spc="60" dirty="0">
                <a:solidFill>
                  <a:srgbClr val="B7C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 &amp; Reading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32688" y="358444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715</a:t>
            </a:r>
            <a:endParaRPr lang="en-US" sz="6800" dirty="0"/>
          </a:p>
        </p:txBody>
      </p:sp>
      <p:sp>
        <p:nvSpPr>
          <p:cNvPr id="11" name="Text 8"/>
          <p:cNvSpPr/>
          <p:nvPr/>
        </p:nvSpPr>
        <p:spPr>
          <a:xfrm>
            <a:off x="978408" y="47823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9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 365  ｜  Reading 350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38912" y="6473952"/>
            <a:ext cx="11292840" cy="0"/>
          </a:xfrm>
          <a:prstGeom prst="line">
            <a:avLst/>
          </a:prstGeom>
          <a:noFill/>
          <a:ln w="7620">
            <a:solidFill>
              <a:srgbClr val="D7D9D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38912" y="651967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272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尤韻綸｜機械工程・模擬分析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11384280" y="651052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2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2A3B134E-E780-35B0-3A37-78792A3C5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679" y="1865377"/>
            <a:ext cx="3101337" cy="4334256"/>
          </a:xfrm>
          <a:prstGeom prst="rect">
            <a:avLst/>
          </a:prstGeom>
          <a:ln w="10160">
            <a:solidFill>
              <a:schemeClr val="tx1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1044</TotalTime>
  <Words>767</Words>
  <Application>Microsoft Office PowerPoint</Application>
  <PresentationFormat>寬螢幕</PresentationFormat>
  <Paragraphs>149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2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尤韻綸｜機械工程｜模擬分析</dc:title>
  <dc:subject>尤韻綸面試簡報</dc:subject>
  <dc:creator>OpenAI Codex</dc:creator>
  <cp:lastModifiedBy>韻綸 尤</cp:lastModifiedBy>
  <cp:revision>33</cp:revision>
  <dcterms:created xsi:type="dcterms:W3CDTF">2026-08-15T17:50:11Z</dcterms:created>
  <dcterms:modified xsi:type="dcterms:W3CDTF">2026-08-17T06:53:25Z</dcterms:modified>
</cp:coreProperties>
</file>